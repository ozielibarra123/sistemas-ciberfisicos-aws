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3327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96896" y="158739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32F3E"/>
                </a:solidFill>
              </a:rPr>
              <a:t>Arquitectura AWS: supervisión IoT de robots y sensores de un almacén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14092" y="514807"/>
            <a:ext cx="7936077" cy="7483449"/>
          </a:xfrm>
          <a:prstGeom prst="rect">
            <a:avLst/>
          </a:prstGeom>
          <a:noFill/>
          <a:ln w="1905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4618" y="520842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Nube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4968" y="1118311"/>
            <a:ext cx="7724851" cy="1870862"/>
          </a:xfrm>
          <a:prstGeom prst="rect">
            <a:avLst/>
          </a:prstGeom>
          <a:solidFill>
            <a:srgbClr val="F4F8EF"/>
          </a:solidFill>
          <a:ln w="12700">
            <a:solidFill>
              <a:srgbClr val="B7C9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25319" y="1148486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4A6B30"/>
                </a:solidFill>
              </a:rPr>
              <a:t>Ingesta de telemetría y alertas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4968" y="3170224"/>
            <a:ext cx="6155740" cy="1418234"/>
          </a:xfrm>
          <a:prstGeom prst="rect">
            <a:avLst/>
          </a:prstGeom>
          <a:solidFill>
            <a:srgbClr val="F0F3FB"/>
          </a:solidFill>
          <a:ln w="12700">
            <a:solidFill>
              <a:srgbClr val="A9B4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25319" y="3200399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D3A93"/>
                </a:solidFill>
              </a:rPr>
              <a:t>Consulta en el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4968" y="5795467"/>
            <a:ext cx="7724851" cy="875080"/>
          </a:xfrm>
          <a:prstGeom prst="rect">
            <a:avLst/>
          </a:prstGeom>
          <a:solidFill>
            <a:srgbClr val="FEF6EC"/>
          </a:solidFill>
          <a:ln w="12700">
            <a:solidFill>
              <a:srgbClr val="EBC7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5319" y="5825642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A04F00"/>
                </a:solidFill>
              </a:rPr>
              <a:t>Supervisión de equipos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982" y="1933041"/>
            <a:ext cx="1327708" cy="724204"/>
          </a:xfrm>
          <a:prstGeom prst="rect">
            <a:avLst/>
          </a:prstGeom>
          <a:solidFill>
            <a:srgbClr val="F2F3F3"/>
          </a:solidFill>
          <a:ln w="12700">
            <a:solidFill>
              <a:srgbClr val="5A6C8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" y="1939076"/>
            <a:ext cx="13277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32F3E"/>
                </a:solidFill>
              </a:rPr>
              <a:t>Robots y sensores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" y="2150303"/>
            <a:ext cx="13277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414D5C"/>
                </a:solidFill>
              </a:rPr>
              <a:t>Control y seguridad locales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" y="2391704"/>
            <a:ext cx="13277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5A6C86"/>
                </a:solidFill>
              </a:rPr>
              <a:t>Almacén (fuera de AWS)</a:t>
            </a:r>
          </a:p>
        </p:txBody>
      </p:sp>
      <p:pic>
        <p:nvPicPr>
          <p:cNvPr id="15" name="Picture 14" descr="io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2023567"/>
            <a:ext cx="543153" cy="5431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95144" y="251240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AWS IoT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5144" y="266328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Recibe MQTT con certificado</a:t>
            </a:r>
          </a:p>
        </p:txBody>
      </p:sp>
      <p:pic>
        <p:nvPicPr>
          <p:cNvPr id="18" name="Picture 17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35" y="2023567"/>
            <a:ext cx="543153" cy="5431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86707" y="251240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Lambda: procesar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707" y="266328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Valida y compara límites</a:t>
            </a:r>
          </a:p>
        </p:txBody>
      </p:sp>
      <p:pic>
        <p:nvPicPr>
          <p:cNvPr id="21" name="Picture 20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1299362"/>
            <a:ext cx="543153" cy="5431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7920" y="1788200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Amazon S3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39076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Bronze: mensajes originales</a:t>
            </a:r>
          </a:p>
        </p:txBody>
      </p:sp>
      <p:pic>
        <p:nvPicPr>
          <p:cNvPr id="24" name="Picture 23" descr="s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863" y="2023567"/>
            <a:ext cx="543153" cy="5431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11235" y="251240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Amazon SNS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1235" y="266328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Alertas</a:t>
            </a:r>
          </a:p>
        </p:txBody>
      </p:sp>
      <p:pic>
        <p:nvPicPr>
          <p:cNvPr id="27" name="Picture 26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863" y="3471976"/>
            <a:ext cx="543153" cy="5431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11235" y="39608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Personal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1235" y="41116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Operación y mantenimiento</a:t>
            </a:r>
          </a:p>
        </p:txBody>
      </p:sp>
      <p:pic>
        <p:nvPicPr>
          <p:cNvPr id="30" name="Picture 29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3592677"/>
            <a:ext cx="543153" cy="54315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4632" y="40815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Usuarios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2323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Operadores, supervisores y admin.</a:t>
            </a:r>
          </a:p>
        </p:txBody>
      </p:sp>
      <p:pic>
        <p:nvPicPr>
          <p:cNvPr id="33" name="Picture 32" descr="amplif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020" y="3592677"/>
            <a:ext cx="543153" cy="54315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93392" y="40815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Amplify 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42323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Dashboard web</a:t>
            </a:r>
          </a:p>
        </p:txBody>
      </p:sp>
      <p:pic>
        <p:nvPicPr>
          <p:cNvPr id="36" name="Picture 35" descr="apig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4780" y="3592677"/>
            <a:ext cx="543153" cy="54315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502152" y="40815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API Gateway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42323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Entrada de consultas</a:t>
            </a:r>
          </a:p>
        </p:txBody>
      </p:sp>
      <p:pic>
        <p:nvPicPr>
          <p:cNvPr id="39" name="Picture 38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3592677"/>
            <a:ext cx="543153" cy="5431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10912" y="40815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Lambda: consultar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2323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Lee historial y estado</a:t>
            </a:r>
          </a:p>
        </p:txBody>
      </p:sp>
      <p:pic>
        <p:nvPicPr>
          <p:cNvPr id="42" name="Picture 41" descr="dynamo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402" y="3592677"/>
            <a:ext cx="543153" cy="54315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81774" y="4081515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Amazon DynamoDB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1774" y="423239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Silver: historial y estado</a:t>
            </a:r>
          </a:p>
        </p:txBody>
      </p:sp>
      <p:pic>
        <p:nvPicPr>
          <p:cNvPr id="45" name="Picture 44" descr="cognit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6020" y="4860036"/>
            <a:ext cx="543153" cy="5431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993392" y="5348874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Amazon Cognito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5499750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Autenticación y roles</a:t>
            </a:r>
          </a:p>
        </p:txBody>
      </p:sp>
      <p:pic>
        <p:nvPicPr>
          <p:cNvPr id="48" name="Picture 47" descr="eventbrid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6532" y="5885992"/>
            <a:ext cx="543153" cy="54315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03904" y="637483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EventBridge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03904" y="6525707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Revisión cada minuto</a:t>
            </a:r>
          </a:p>
        </p:txBody>
      </p:sp>
      <p:pic>
        <p:nvPicPr>
          <p:cNvPr id="51" name="Picture 50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744" y="5885992"/>
            <a:ext cx="543153" cy="54315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735116" y="6374831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Lambda: supervisar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5116" y="6525707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Detecta equipos sin datos</a:t>
            </a:r>
          </a:p>
        </p:txBody>
      </p:sp>
      <p:pic>
        <p:nvPicPr>
          <p:cNvPr id="54" name="Picture 53" descr="cloudwatc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2839" y="7032650"/>
            <a:ext cx="543153" cy="54315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90211" y="7521488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Amazon CloudWatch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0211" y="7672364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Logs, métricas y alarmas</a:t>
            </a:r>
          </a:p>
        </p:txBody>
      </p:sp>
      <p:pic>
        <p:nvPicPr>
          <p:cNvPr id="57" name="Picture 56" descr="ia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6855" y="7032650"/>
            <a:ext cx="543153" cy="54315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304227" y="7521488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32F3E"/>
                </a:solidFill>
              </a:rPr>
              <a:t>AWS IAM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04227" y="7672364"/>
            <a:ext cx="14484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14D5C"/>
                </a:solidFill>
              </a:rPr>
              <a:t>Roles de mínimo privilegio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842516" y="2295144"/>
            <a:ext cx="875080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751990" y="2089952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MQTT + TLS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321100" y="2295144"/>
            <a:ext cx="1388060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381451" y="2089952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Regla IoT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5010912" y="1570939"/>
            <a:ext cx="0" cy="422453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010912" y="1570939"/>
            <a:ext cx="1629460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91963" y="1365747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mensaje original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312664" y="2295144"/>
            <a:ext cx="3621024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666329" y="2089952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condición anormal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235440" y="2928823"/>
            <a:ext cx="0" cy="512978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312664" y="2446020"/>
            <a:ext cx="2021738" cy="1116482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33364" y="2844332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datos validados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601114" y="3864254"/>
            <a:ext cx="814730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019348" y="3864254"/>
            <a:ext cx="905256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928823" y="3659063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HTTPS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528108" y="3864254"/>
            <a:ext cx="905256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36868" y="3864254"/>
            <a:ext cx="1267359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217920" y="3659063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consulta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717596" y="4467758"/>
            <a:ext cx="0" cy="331927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782165" y="4654844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inicio de sesión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019348" y="5131612"/>
            <a:ext cx="1207008" cy="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226356" y="4467758"/>
            <a:ext cx="0" cy="663854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079699" y="4926421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valida token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829860" y="6157569"/>
            <a:ext cx="1327709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010912" y="5952378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cada 1 min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61073" y="6067044"/>
            <a:ext cx="1931213" cy="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692286" y="3864254"/>
            <a:ext cx="0" cy="220279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7907731" y="3864254"/>
            <a:ext cx="784555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149132" y="5016947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último estado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61073" y="6248095"/>
            <a:ext cx="3228746" cy="0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989819" y="2295144"/>
            <a:ext cx="0" cy="3952951"/>
          </a:xfrm>
          <a:prstGeom prst="line">
            <a:avLst/>
          </a:prstGeom>
          <a:ln w="19050">
            <a:solidFill>
              <a:srgbClr val="54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9537192" y="2295144"/>
            <a:ext cx="452627" cy="0"/>
          </a:xfrm>
          <a:prstGeom prst="line">
            <a:avLst/>
          </a:prstGeom>
          <a:ln w="19050">
            <a:solidFill>
              <a:srgbClr val="545B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933688" y="5741151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232F3E"/>
                </a:solidFill>
              </a:rPr>
              <a:t>dispositivo sin datos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010912" y="2958998"/>
            <a:ext cx="0" cy="3922776"/>
          </a:xfrm>
          <a:prstGeom prst="line">
            <a:avLst/>
          </a:prstGeom>
          <a:ln w="12700">
            <a:solidFill>
              <a:srgbClr val="9B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010912" y="6881774"/>
            <a:ext cx="1448409" cy="0"/>
          </a:xfrm>
          <a:prstGeom prst="line">
            <a:avLst/>
          </a:prstGeom>
          <a:ln w="12700">
            <a:solidFill>
              <a:srgbClr val="9B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614416" y="6881774"/>
            <a:ext cx="0" cy="120701"/>
          </a:xfrm>
          <a:prstGeom prst="line">
            <a:avLst/>
          </a:prstGeom>
          <a:ln w="12700">
            <a:solidFill>
              <a:srgbClr val="9B3F8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735116" y="4497933"/>
            <a:ext cx="0" cy="2383841"/>
          </a:xfrm>
          <a:prstGeom prst="line">
            <a:avLst/>
          </a:prstGeom>
          <a:ln w="12700">
            <a:solidFill>
              <a:srgbClr val="9B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459321" y="6791248"/>
            <a:ext cx="0" cy="90526"/>
          </a:xfrm>
          <a:prstGeom prst="line">
            <a:avLst/>
          </a:prstGeom>
          <a:ln w="12700">
            <a:solidFill>
              <a:srgbClr val="9B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